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0" y="2011680"/>
            <a:ext cx="91440" cy="28346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93C5FD"/>
                </a:solidFill>
                <a:latin typeface="Trebuchet MS"/>
              </a:defRPr>
            </a:pPr>
            <a:r>
              <a:t>USER &amp; AUDITING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</a:defRPr>
            </a:pPr>
            <a:r>
              <a:t>TTB ALAVE PROJECT</a:t>
            </a:r>
            <a:br/>
            <a:r>
              <a:t>Compliance Engine Prototype v1.2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011680"/>
            <a:ext cx="7132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2043"/>
                </a:solidFill>
                <a:latin typeface="Trebuchet MS"/>
              </a:defRPr>
            </a:pPr>
            <a:r>
              <a:t>TTB ALAVE Compliance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3840480"/>
            <a:ext cx="7132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748B"/>
                </a:solidFill>
                <a:latin typeface="Calibri"/>
              </a:defRPr>
            </a:pPr>
            <a:r>
              <a:t>Simplifying Label Verification for TTB Officers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Trebuchet MS"/>
              </a:defRPr>
            </a:pPr>
            <a:r>
              <a:t>ALAVE SYSTEM DECK  •  CORE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043"/>
                </a:solidFill>
                <a:latin typeface="Trebuchet MS"/>
              </a:defRPr>
            </a:pPr>
            <a:r>
              <a:t>Core Challenge &amp; Verification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5120640" cy="109728"/>
          </a:xfrm>
          <a:prstGeom prst="round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6634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2043"/>
                </a:solidFill>
                <a:latin typeface="Trebuchet MS"/>
              </a:defRPr>
            </a:pPr>
            <a:r>
              <a:t>The Auditing Challenge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TTB officers must manually cross-reference alcohol label text against extensive system database fields.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Repetitive visual checks lead to typographical fatigue, increasing oversight risk.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Visual warning checks (casing, specific regulatory phrases) are tedious to perform manually.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Result: Slower turnaround times for Certificate of Label Approval (COLA) approvals.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2512" y="146304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82512" y="1463040"/>
            <a:ext cx="5120640" cy="109728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1112" y="1645920"/>
            <a:ext cx="46634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2043"/>
                </a:solidFill>
                <a:latin typeface="Trebuchet MS"/>
              </a:defRPr>
            </a:pPr>
            <a:r>
              <a:t>The ALAVE Portal Solution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Automates initial image pre-processing (grayscaling, threshold binarization) to enhance label text readability.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Applies a high-performance in-container OCR scan to extract label data in under 5 seconds.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Renders a side-by-side compliance diff matrix highlighting matched and mismatched fields.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Maintains human-in-the-loop oversight by giving TTB officers full decision override authority.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Trebuchet MS"/>
              </a:defRPr>
            </a:pPr>
            <a:r>
              <a:t>ALAVE SYSTEM DECK  •  PROCESS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043"/>
                </a:solidFill>
                <a:latin typeface="Trebuchet MS"/>
              </a:defRPr>
            </a:pPr>
            <a:r>
              <a:t>Portal Audit Lifecycle Flowchart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28800"/>
            <a:ext cx="640080" cy="640080"/>
          </a:xfrm>
          <a:prstGeom prst="ellipse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Trebuchet M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783080"/>
            <a:ext cx="3931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  <a:latin typeface="Trebuchet MS"/>
              </a:defRPr>
            </a:pPr>
            <a:r>
              <a:t>SSO Secure Portal Login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Officers log in via a compliant single sign-on screen containing legal usage warning banners.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108960"/>
            <a:ext cx="512064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291840"/>
            <a:ext cx="640080" cy="640080"/>
          </a:xfrm>
          <a:prstGeom prst="ellipse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Trebuchet M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246120"/>
            <a:ext cx="3931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  <a:latin typeface="Trebuchet MS"/>
              </a:defRPr>
            </a:pPr>
            <a:r>
              <a:t>Batch Label Drop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Auditors upload label images (supports up to 50 files) with automatic target application matching.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572000"/>
            <a:ext cx="512064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4754880"/>
            <a:ext cx="640080" cy="640080"/>
          </a:xfrm>
          <a:prstGeom prst="ellipse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Trebuchet M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4709160"/>
            <a:ext cx="3931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  <a:latin typeface="Trebuchet MS"/>
              </a:defRPr>
            </a:pPr>
            <a:r>
              <a:t>Scan &amp; Pre-check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Backend OCR performs matching and generates automated recommendations (Approved, Rejected, Review).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82512" y="1645920"/>
            <a:ext cx="512064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65392" y="1828800"/>
            <a:ext cx="640080" cy="640080"/>
          </a:xfrm>
          <a:prstGeom prst="ellipse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Trebuchet M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88352" y="1783080"/>
            <a:ext cx="3931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  <a:latin typeface="Trebuchet MS"/>
              </a:defRPr>
            </a:pPr>
            <a:r>
              <a:t>Inspect Discrepancies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Officers open the split-screen detail view to examine the Expected vs Extracted matrix.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82512" y="3108960"/>
            <a:ext cx="512064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65392" y="3291840"/>
            <a:ext cx="640080" cy="640080"/>
          </a:xfrm>
          <a:prstGeom prst="ellipse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Trebuchet MS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88352" y="3246120"/>
            <a:ext cx="3931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  <a:latin typeface="Trebuchet MS"/>
              </a:defRPr>
            </a:pPr>
            <a:r>
              <a:t>Register Officer Decision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Auditor overrides system recommendation and selects: Approve, Reject, or Flag for Escalation.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82512" y="4572000"/>
            <a:ext cx="512064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65392" y="4754880"/>
            <a:ext cx="640080" cy="640080"/>
          </a:xfrm>
          <a:prstGeom prst="ellipse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Trebuchet MS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88352" y="4709160"/>
            <a:ext cx="3931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  <a:latin typeface="Trebuchet MS"/>
              </a:defRPr>
            </a:pPr>
            <a:r>
              <a:t>Queue Update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The system updates the dashboard and dynamically saves session state to sessionStorage.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Trebuchet MS"/>
              </a:defRPr>
            </a:pPr>
            <a:r>
              <a:t>ALAVE SYSTEM DECK  •  AUDITOR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043"/>
                </a:solidFill>
                <a:latin typeface="Trebuchet MS"/>
              </a:defRPr>
            </a:pPr>
            <a:r>
              <a:t>The Compliance Queue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291840" cy="109728"/>
          </a:xfrm>
          <a:prstGeom prst="round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8346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2043"/>
                </a:solidFill>
                <a:latin typeface="Trebuchet MS"/>
              </a:defRPr>
            </a:pPr>
            <a:r>
              <a:t>1. Drag &amp; Drop Upload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Simplifies queue creation.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Supports drag-and-drop or local file browsing.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Validates file types (images only) client-side before sending data.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Limits queue batches to 50 items for optimal container load.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34840" y="1645920"/>
            <a:ext cx="3291840" cy="109728"/>
          </a:xfrm>
          <a:prstGeom prst="round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828800"/>
            <a:ext cx="28346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2043"/>
                </a:solidFill>
                <a:latin typeface="Trebuchet MS"/>
              </a:defRPr>
            </a:pPr>
            <a:r>
              <a:t>2. Target App Matcher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Filenames are parsed to automatically detect associated COLA Application IDs.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Matches common patterns (e.g. '001', 'TTB-2024-001').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A dropdown allows manual re-binding of files to other database applications before checking.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83879" y="1645920"/>
            <a:ext cx="3291840" cy="109728"/>
          </a:xfrm>
          <a:prstGeom prst="round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9" y="1828800"/>
            <a:ext cx="28346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2043"/>
                </a:solidFill>
                <a:latin typeface="Trebuchet MS"/>
              </a:defRPr>
            </a:pPr>
            <a:r>
              <a:t>3. Real-Time Status Badges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Table rows display live verification statuses: Queued, Analyzing, and result recommendations.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Once an officer updates a decision, the status converts to a permanent badge (e.g., 'Officer: Approved').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3840480"/>
            <a:ext cx="2834640" cy="36576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66534"/>
                </a:solidFill>
                <a:latin typeface="Trebuchet MS"/>
              </a:defRPr>
            </a:pPr>
            <a:r>
              <a:t>OFFICER: APPROVED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4297680"/>
            <a:ext cx="2834640" cy="36576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991B1B"/>
                </a:solidFill>
                <a:latin typeface="Trebuchet MS"/>
              </a:defRPr>
            </a:pPr>
            <a:r>
              <a:t>OFFICER: REJECTED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4754880"/>
            <a:ext cx="2834640" cy="365760"/>
          </a:xfrm>
          <a:prstGeom prst="roundRect">
            <a:avLst/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854D0E"/>
                </a:solidFill>
                <a:latin typeface="Trebuchet MS"/>
              </a:defRPr>
            </a:pPr>
            <a:r>
              <a:t>OFFICER: FLAGGED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Trebuchet MS"/>
              </a:defRPr>
            </a:pPr>
            <a:r>
              <a:t>ALAVE SYSTEM DECK  •  AUDITOR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043"/>
                </a:solidFill>
                <a:latin typeface="Trebuchet MS"/>
              </a:defRPr>
            </a:pPr>
            <a:r>
              <a:t>Expected vs Extracted Inspection Screen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5120640" cy="109728"/>
          </a:xfrm>
          <a:prstGeom prst="round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6634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2043"/>
                </a:solidFill>
                <a:latin typeface="Trebuchet MS"/>
              </a:defRPr>
            </a:pPr>
            <a:r>
              <a:t>Visual Discrepancy Matrix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Left Panel displays high-res label artwork side-by-side with raw extracted OCR text.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Right Panel renders the verification fields in a clean comparative grid.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Shows the exact expected value from TTB database alongside the actual string extracted from the label.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Errors (such as lowercase warning prefixes) are highlighted in bold red fonts for instant auditing.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82512" y="1645920"/>
            <a:ext cx="5120640" cy="109728"/>
          </a:xfrm>
          <a:prstGeom prst="round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1112" y="1828800"/>
            <a:ext cx="46634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2043"/>
                </a:solidFill>
                <a:latin typeface="Trebuchet MS"/>
              </a:defRPr>
            </a:pPr>
            <a:r>
              <a:t>Manual Overrides &amp; Session Security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Sticky Bottom Action Bar contains three controls: Approve Application, Reject Application, and Flag for Manual Review.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Tapping any decision updates the dashboard status badge and triggers a brief transition notice.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Implemented an in-memory global fileCache in page.tsx to preserve binary File handles, preventing state loss during reload.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